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NVIDIA Corporation (nvda)</a:t>
            </a:r>
          </a:p>
        </p:txBody>
      </p:sp>
      <p:sp>
        <p:nvSpPr>
          <p:cNvPr id="3" name="Subtitle 2"/>
          <p:cNvSpPr>
            <a:spLocks noGrp="1"/>
          </p:cNvSpPr>
          <p:nvPr>
            <p:ph type="subTitle" idx="1"/>
          </p:nvPr>
        </p:nvSpPr>
        <p:spPr/>
        <p:txBody>
          <a:bodyPr/>
          <a:lstStyle/>
          <a:p>
            <a:r>
              <a:t>Comprehensive Valuation Analysis</a:t>
            </a:r>
          </a:p>
          <a:p>
            <a:r>
              <a:t>November 08,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Investment Highlights:</a:t>
            </a:r>
          </a:p>
          <a:p>
            <a:pPr lvl="1"/>
            <a:r>
              <a:t>Market Cap: $4580.89B | Current Price: $188.15</a:t>
            </a:r>
          </a:p>
          <a:p>
            <a:pPr lvl="1"/>
            <a:r>
              <a:t>LTM Revenue: $16.68B</a:t>
            </a:r>
          </a:p>
          <a:p>
            <a:pPr lvl="1"/>
            <a:r>
              <a:t>DCF Fair Value: $4.74 (-97.5% from current)</a:t>
            </a:r>
          </a:p>
          <a:p>
            <a:pPr lvl="1"/>
            <a:r>
              <a:t>CCA Valuation: $82.27/share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Valuation Summary</a:t>
            </a:r>
          </a:p>
        </p:txBody>
      </p:sp>
      <p:graphicFrame>
        <p:nvGraphicFramePr>
          <p:cNvPr id="3" name="Table 2"/>
          <p:cNvGraphicFramePr>
            <a:graphicFrameLocks noGrp="1"/>
          </p:cNvGraphicFramePr>
          <p:nvPr/>
        </p:nvGraphicFramePr>
        <p:xfrm>
          <a:off x="1371600" y="1828800"/>
          <a:ext cx="9144000" cy="2743200"/>
        </p:xfrm>
        <a:graphic>
          <a:graphicData uri="http://schemas.openxmlformats.org/drawingml/2006/table">
            <a:tbl>
              <a:tblPr firstRow="1" bandRow="1">
                <a:tableStyleId>{5C22544A-7EE6-4342-B048-85BDC9FD1C3A}</a:tableStyleId>
              </a:tblPr>
              <a:tblGrid>
                <a:gridCol w="2743200"/>
                <a:gridCol w="1600200"/>
                <a:gridCol w="1600200"/>
                <a:gridCol w="1600200"/>
                <a:gridCol w="1600200"/>
              </a:tblGrid>
              <a:tr h="548640">
                <a:tc>
                  <a:txBody>
                    <a:bodyPr/>
                    <a:lstStyle/>
                    <a:p>
                      <a:r>
                        <a:t>Method</a:t>
                      </a:r>
                    </a:p>
                  </a:txBody>
                  <a:tcPr/>
                </a:tc>
                <a:tc>
                  <a:txBody>
                    <a:bodyPr/>
                    <a:lstStyle/>
                    <a:p>
                      <a:r>
                        <a:t>Low ($)</a:t>
                      </a:r>
                    </a:p>
                  </a:txBody>
                  <a:tcPr/>
                </a:tc>
                <a:tc>
                  <a:txBody>
                    <a:bodyPr/>
                    <a:lstStyle/>
                    <a:p>
                      <a:r>
                        <a:t>Mid ($)</a:t>
                      </a:r>
                    </a:p>
                  </a:txBody>
                  <a:tcPr/>
                </a:tc>
                <a:tc>
                  <a:txBody>
                    <a:bodyPr/>
                    <a:lstStyle/>
                    <a:p>
                      <a:r>
                        <a:t>High ($)</a:t>
                      </a:r>
                    </a:p>
                  </a:txBody>
                  <a:tcPr/>
                </a:tc>
                <a:tc>
                  <a:txBody>
                    <a:bodyPr/>
                    <a:lstStyle/>
                    <a:p>
                      <a:r>
                        <a:t>Implied Value</a:t>
                      </a:r>
                    </a:p>
                  </a:txBody>
                  <a:tcPr/>
                </a:tc>
              </a:tr>
              <a:tr h="548640">
                <a:tc>
                  <a:txBody>
                    <a:bodyPr/>
                    <a:lstStyle/>
                    <a:p>
                      <a:r>
                        <a:t>Discounted Cash Flow</a:t>
                      </a:r>
                    </a:p>
                  </a:txBody>
                  <a:tcPr/>
                </a:tc>
                <a:tc>
                  <a:txBody>
                    <a:bodyPr/>
                    <a:lstStyle/>
                    <a:p>
                      <a:r>
                        <a:t>$4.27</a:t>
                      </a:r>
                    </a:p>
                  </a:txBody>
                  <a:tcPr/>
                </a:tc>
                <a:tc>
                  <a:txBody>
                    <a:bodyPr/>
                    <a:lstStyle/>
                    <a:p>
                      <a:r>
                        <a:t>$4.74</a:t>
                      </a:r>
                    </a:p>
                  </a:txBody>
                  <a:tcPr/>
                </a:tc>
                <a:tc>
                  <a:txBody>
                    <a:bodyPr/>
                    <a:lstStyle/>
                    <a:p>
                      <a:r>
                        <a:t>$5.21</a:t>
                      </a:r>
                    </a:p>
                  </a:txBody>
                  <a:tcPr/>
                </a:tc>
                <a:tc>
                  <a:txBody>
                    <a:bodyPr/>
                    <a:lstStyle/>
                    <a:p>
                      <a:r>
                        <a:t>$4.74</a:t>
                      </a:r>
                    </a:p>
                  </a:txBody>
                  <a:tcPr/>
                </a:tc>
              </a:tr>
              <a:tr h="548640">
                <a:tc>
                  <a:txBody>
                    <a:bodyPr/>
                    <a:lstStyle/>
                    <a:p>
                      <a:r>
                        <a:t>Comparable Companies</a:t>
                      </a:r>
                    </a:p>
                  </a:txBody>
                  <a:tcPr/>
                </a:tc>
                <a:tc>
                  <a:txBody>
                    <a:bodyPr/>
                    <a:lstStyle/>
                    <a:p>
                      <a:r>
                        <a:t>$69.93</a:t>
                      </a:r>
                    </a:p>
                  </a:txBody>
                  <a:tcPr/>
                </a:tc>
                <a:tc>
                  <a:txBody>
                    <a:bodyPr/>
                    <a:lstStyle/>
                    <a:p>
                      <a:r>
                        <a:t>$82.27</a:t>
                      </a:r>
                    </a:p>
                  </a:txBody>
                  <a:tcPr/>
                </a:tc>
                <a:tc>
                  <a:txBody>
                    <a:bodyPr/>
                    <a:lstStyle/>
                    <a:p>
                      <a:r>
                        <a:t>$94.61</a:t>
                      </a:r>
                    </a:p>
                  </a:txBody>
                  <a:tcPr/>
                </a:tc>
                <a:tc>
                  <a:txBody>
                    <a:bodyPr/>
                    <a:lstStyle/>
                    <a:p>
                      <a:r>
                        <a:t>$82.27</a:t>
                      </a:r>
                    </a:p>
                  </a:txBody>
                  <a:tcPr/>
                </a:tc>
              </a:tr>
              <a:tr h="548640">
                <a:tc>
                  <a:txBody>
                    <a:bodyPr/>
                    <a:lstStyle/>
                    <a:p>
                      <a:r>
                        <a:t>Leveraged Buyout</a:t>
                      </a:r>
                    </a:p>
                  </a:txBody>
                  <a:tcPr/>
                </a:tc>
                <a:tc>
                  <a:txBody>
                    <a:bodyPr/>
                    <a:lstStyle/>
                    <a:p>
                      <a:r>
                        <a:t>$150.52</a:t>
                      </a:r>
                    </a:p>
                  </a:txBody>
                  <a:tcPr/>
                </a:tc>
                <a:tc>
                  <a:txBody>
                    <a:bodyPr/>
                    <a:lstStyle/>
                    <a:p>
                      <a:r>
                        <a:t>$188.15</a:t>
                      </a:r>
                    </a:p>
                  </a:txBody>
                  <a:tcPr/>
                </a:tc>
                <a:tc>
                  <a:txBody>
                    <a:bodyPr/>
                    <a:lstStyle/>
                    <a:p>
                      <a:r>
                        <a:t>$225.78</a:t>
                      </a:r>
                    </a:p>
                  </a:txBody>
                  <a:tcPr/>
                </a:tc>
                <a:tc>
                  <a:txBody>
                    <a:bodyPr/>
                    <a:lstStyle/>
                    <a:p>
                      <a:r>
                        <a:t>$188.15</a:t>
                      </a:r>
                    </a:p>
                  </a:txBody>
                  <a:tcPr/>
                </a:tc>
              </a:tr>
              <a:tr h="548640">
                <a:tc>
                  <a:txBody>
                    <a:bodyPr/>
                    <a:lstStyle/>
                    <a:p>
                      <a:r>
                        <a:t>Current Market Price</a:t>
                      </a:r>
                    </a:p>
                  </a:txBody>
                  <a:tcPr/>
                </a:tc>
                <a:tc>
                  <a:txBody>
                    <a:bodyPr/>
                    <a:lstStyle/>
                    <a:p>
                      <a:r>
                        <a:t>$188.15</a:t>
                      </a:r>
                    </a:p>
                  </a:txBody>
                  <a:tcPr/>
                </a:tc>
                <a:tc>
                  <a:txBody>
                    <a:bodyPr/>
                    <a:lstStyle/>
                    <a:p>
                      <a:r>
                        <a:t>$188.15</a:t>
                      </a:r>
                    </a:p>
                  </a:txBody>
                  <a:tcPr/>
                </a:tc>
                <a:tc>
                  <a:txBody>
                    <a:bodyPr/>
                    <a:lstStyle/>
                    <a:p>
                      <a:r>
                        <a:t>$188.15</a:t>
                      </a:r>
                    </a:p>
                  </a:txBody>
                  <a:tcPr/>
                </a:tc>
                <a:tc>
                  <a:txBody>
                    <a:bodyPr/>
                    <a:lstStyle/>
                    <a:p>
                      <a:r>
                        <a:t>$188.15</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Overview</a:t>
            </a:r>
          </a:p>
        </p:txBody>
      </p:sp>
      <p:graphicFrame>
        <p:nvGraphicFramePr>
          <p:cNvPr id="3" name="Table 2"/>
          <p:cNvGraphicFramePr>
            <a:graphicFrameLocks noGrp="1"/>
          </p:cNvGraphicFramePr>
          <p:nvPr/>
        </p:nvGraphicFramePr>
        <p:xfrm>
          <a:off x="1371600" y="1828800"/>
          <a:ext cx="9144000" cy="3657600"/>
        </p:xfrm>
        <a:graphic>
          <a:graphicData uri="http://schemas.openxmlformats.org/drawingml/2006/table">
            <a:tbl>
              <a:tblPr firstRow="1" bandRow="1">
                <a:tableStyleId>{5C22544A-7EE6-4342-B048-85BDC9FD1C3A}</a:tableStyleId>
              </a:tblPr>
              <a:tblGrid>
                <a:gridCol w="4572000"/>
                <a:gridCol w="4572000"/>
              </a:tblGrid>
              <a:tr h="522514">
                <a:tc>
                  <a:txBody>
                    <a:bodyPr/>
                    <a:lstStyle/>
                    <a:p>
                      <a:r>
                        <a:t>Metric</a:t>
                      </a:r>
                    </a:p>
                  </a:txBody>
                  <a:tcPr/>
                </a:tc>
                <a:tc>
                  <a:txBody>
                    <a:bodyPr/>
                    <a:lstStyle/>
                    <a:p>
                      <a:r>
                        <a:t>Value</a:t>
                      </a:r>
                    </a:p>
                  </a:txBody>
                  <a:tcPr/>
                </a:tc>
              </a:tr>
              <a:tr h="522514">
                <a:tc>
                  <a:txBody>
                    <a:bodyPr/>
                    <a:lstStyle/>
                    <a:p>
                      <a:r>
                        <a:t>LTM Revenue</a:t>
                      </a:r>
                    </a:p>
                  </a:txBody>
                  <a:tcPr/>
                </a:tc>
                <a:tc>
                  <a:txBody>
                    <a:bodyPr/>
                    <a:lstStyle/>
                    <a:p>
                      <a:r>
                        <a:t>$16.68B</a:t>
                      </a:r>
                    </a:p>
                  </a:txBody>
                  <a:tcPr/>
                </a:tc>
              </a:tr>
              <a:tr h="522514">
                <a:tc>
                  <a:txBody>
                    <a:bodyPr/>
                    <a:lstStyle/>
                    <a:p>
                      <a:r>
                        <a:t>LTM EBITDA</a:t>
                      </a:r>
                    </a:p>
                  </a:txBody>
                  <a:tcPr/>
                </a:tc>
                <a:tc>
                  <a:txBody>
                    <a:bodyPr/>
                    <a:lstStyle/>
                    <a:p>
                      <a:r>
                        <a:t>$5.69B</a:t>
                      </a:r>
                    </a:p>
                  </a:txBody>
                  <a:tcPr/>
                </a:tc>
              </a:tr>
              <a:tr h="522514">
                <a:tc>
                  <a:txBody>
                    <a:bodyPr/>
                    <a:lstStyle/>
                    <a:p>
                      <a:r>
                        <a:t>EBITDA Margin</a:t>
                      </a:r>
                    </a:p>
                  </a:txBody>
                  <a:tcPr/>
                </a:tc>
                <a:tc>
                  <a:txBody>
                    <a:bodyPr/>
                    <a:lstStyle/>
                    <a:p>
                      <a:r>
                        <a:t>34.1%</a:t>
                      </a:r>
                    </a:p>
                  </a:txBody>
                  <a:tcPr/>
                </a:tc>
              </a:tr>
              <a:tr h="522514">
                <a:tc>
                  <a:txBody>
                    <a:bodyPr/>
                    <a:lstStyle/>
                    <a:p>
                      <a:r>
                        <a:t>LTM Net Income</a:t>
                      </a:r>
                    </a:p>
                  </a:txBody>
                  <a:tcPr/>
                </a:tc>
                <a:tc>
                  <a:txBody>
                    <a:bodyPr/>
                    <a:lstStyle/>
                    <a:p>
                      <a:r>
                        <a:t>$4.33B</a:t>
                      </a:r>
                    </a:p>
                  </a:txBody>
                  <a:tcPr/>
                </a:tc>
              </a:tr>
              <a:tr h="522514">
                <a:tc>
                  <a:txBody>
                    <a:bodyPr/>
                    <a:lstStyle/>
                    <a:p>
                      <a:r>
                        <a:t>LTM Free Cash Flow</a:t>
                      </a:r>
                    </a:p>
                  </a:txBody>
                  <a:tcPr/>
                </a:tc>
                <a:tc>
                  <a:txBody>
                    <a:bodyPr/>
                    <a:lstStyle/>
                    <a:p>
                      <a:r>
                        <a:t>$4.69B</a:t>
                      </a:r>
                    </a:p>
                  </a:txBody>
                  <a:tcPr/>
                </a:tc>
              </a:tr>
              <a:tr h="522516">
                <a:tc>
                  <a:txBody>
                    <a:bodyPr/>
                    <a:lstStyle/>
                    <a:p>
                      <a:r>
                        <a:t>Market Capitalization</a:t>
                      </a:r>
                    </a:p>
                  </a:txBody>
                  <a:tcPr/>
                </a:tc>
                <a:tc>
                  <a:txBody>
                    <a:bodyPr/>
                    <a:lstStyle/>
                    <a:p>
                      <a:r>
                        <a:t>$4580.89B</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DCF Valuation Analysis</a:t>
            </a:r>
          </a:p>
        </p:txBody>
      </p:sp>
      <p:sp>
        <p:nvSpPr>
          <p:cNvPr id="3" name="Content Placeholder 2"/>
          <p:cNvSpPr>
            <a:spLocks noGrp="1"/>
          </p:cNvSpPr>
          <p:nvPr>
            <p:ph idx="1"/>
          </p:nvPr>
        </p:nvSpPr>
        <p:spPr/>
        <p:txBody>
          <a:bodyPr/>
          <a:lstStyle/>
          <a:p>
            <a:r>
              <a:t>DCF Valuation Summary:</a:t>
            </a:r>
          </a:p>
          <a:p>
            <a:pPr lvl="1"/>
            <a:r>
              <a:t>Enterprise Value: $117.06B</a:t>
            </a:r>
          </a:p>
          <a:p>
            <a:pPr lvl="1"/>
            <a:r>
              <a:t>Equity Value: $115.38B</a:t>
            </a:r>
          </a:p>
          <a:p>
            <a:pPr lvl="1"/>
            <a:r>
              <a:t>Value per Share: $4.74</a:t>
            </a:r>
          </a:p>
          <a:p>
            <a:pPr lvl="1"/>
            <a:r>
              <a:t>WACC: 12.31%</a:t>
            </a:r>
          </a:p>
          <a:p>
            <a:pPr lvl="1"/>
            <a:r>
              <a:t>PV of Forecast Period: $91.17B (77.9%)</a:t>
            </a:r>
          </a:p>
          <a:p>
            <a:pPr lvl="1"/>
            <a:r>
              <a:t>PV of Terminal Value: $25.89B (22.1%)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Comparable Companies Analysis</a:t>
            </a:r>
          </a:p>
        </p:txBody>
      </p:sp>
      <p:sp>
        <p:nvSpPr>
          <p:cNvPr id="3" name="Content Placeholder 2"/>
          <p:cNvSpPr>
            <a:spLocks noGrp="1"/>
          </p:cNvSpPr>
          <p:nvPr>
            <p:ph idx="1"/>
          </p:nvPr>
        </p:nvSpPr>
        <p:spPr/>
        <p:txBody>
          <a:bodyPr/>
          <a:lstStyle/>
          <a:p>
            <a:r>
              <a:t>CCA Valuation Summary:</a:t>
            </a:r>
          </a:p>
          <a:p>
            <a:pPr lvl="1"/>
            <a:r>
              <a:t>Peer Count: 9 companies</a:t>
            </a:r>
          </a:p>
          <a:p>
            <a:pPr lvl="1"/>
            <a:r>
              <a:t>Value per Share (EV/Revenue): $48.75</a:t>
            </a:r>
          </a:p>
          <a:p>
            <a:pPr lvl="1"/>
            <a:r>
              <a:t>Value per Share (EV/EBITDA): $82.27</a:t>
            </a:r>
          </a:p>
          <a:p>
            <a:pPr lvl="1"/>
            <a:r>
              <a:t>Value per Share (P/E): $108.55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Investment Thesis</a:t>
            </a:r>
          </a:p>
        </p:txBody>
      </p:sp>
      <p:sp>
        <p:nvSpPr>
          <p:cNvPr id="3" name="Content Placeholder 2"/>
          <p:cNvSpPr>
            <a:spLocks noGrp="1"/>
          </p:cNvSpPr>
          <p:nvPr>
            <p:ph idx="1"/>
          </p:nvPr>
        </p:nvSpPr>
        <p:spPr/>
        <p:txBody>
          <a:bodyPr/>
          <a:lstStyle/>
          <a:p>
            <a:r>
              <a:t>Key Investment Highlights:</a:t>
            </a:r>
          </a:p>
          <a:p>
            <a:pPr lvl="1"/>
            <a:r>
              <a:t>Strong market position with NVIDIA Corporation brand recognition</a:t>
            </a:r>
          </a:p>
          <a:p>
            <a:pPr lvl="1"/>
            <a:r>
              <a:t>Solid financial performance with consistent revenue growth</a:t>
            </a:r>
          </a:p>
          <a:p>
            <a:pPr lvl="1"/>
            <a:r>
              <a:t>Attractive valuation relative to peers and intrinsic value</a:t>
            </a:r>
          </a:p>
          <a:p>
            <a:pPr lvl="1"/>
            <a:r>
              <a:t>Multiple growth catalysts in near-term pipeline</a:t>
            </a:r>
          </a:p>
          <a:p>
            <a:pPr lvl="1"/>
            <a:r>
              <a:t>Strong cash generation supporting shareholder returns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Risk Factors</a:t>
            </a:r>
          </a:p>
        </p:txBody>
      </p:sp>
      <p:sp>
        <p:nvSpPr>
          <p:cNvPr id="3" name="Content Placeholder 2"/>
          <p:cNvSpPr>
            <a:spLocks noGrp="1"/>
          </p:cNvSpPr>
          <p:nvPr>
            <p:ph idx="1"/>
          </p:nvPr>
        </p:nvSpPr>
        <p:spPr/>
        <p:txBody>
          <a:bodyPr/>
          <a:lstStyle/>
          <a:p>
            <a:r>
              <a:t>Investment Risks to Consider:</a:t>
            </a:r>
          </a:p>
          <a:p>
            <a:pPr lvl="1"/>
            <a:r>
              <a:t>Market competition and pricing pressure</a:t>
            </a:r>
          </a:p>
          <a:p>
            <a:pPr lvl="1"/>
            <a:r>
              <a:t>Regulatory and compliance risks</a:t>
            </a:r>
          </a:p>
          <a:p>
            <a:pPr lvl="1"/>
            <a:r>
              <a:t>Execution risk on strategic initiatives</a:t>
            </a:r>
          </a:p>
          <a:p>
            <a:pPr lvl="1"/>
            <a:r>
              <a:t>Macroeconomic headwinds and market volatility</a:t>
            </a:r>
          </a:p>
          <a:p>
            <a:pPr lvl="1"/>
            <a:r>
              <a:t>Technology disruption and innovation challenges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Investment Recommendation</a:t>
            </a:r>
          </a:p>
        </p:txBody>
      </p:sp>
      <p:sp>
        <p:nvSpPr>
          <p:cNvPr id="3" name="Content Placeholder 2"/>
          <p:cNvSpPr>
            <a:spLocks noGrp="1"/>
          </p:cNvSpPr>
          <p:nvPr>
            <p:ph idx="1"/>
          </p:nvPr>
        </p:nvSpPr>
        <p:spPr/>
        <p:txBody>
          <a:bodyPr/>
          <a:lstStyle/>
          <a:p>
            <a:r>
              <a:t>Rating: SELL</a:t>
            </a:r>
          </a:p>
          <a:p>
            <a:pPr lvl="1"/>
            <a:r>
              <a:t>Target Price: $4.74 (-97.5% potential)</a:t>
            </a:r>
          </a:p>
          <a:p>
            <a:pPr lvl="1"/>
            <a:r>
              <a:t>NVIDIA Corporation presents an attractive investment opportunity</a:t>
            </a:r>
          </a:p>
          <a:p>
            <a:pPr lvl="1"/>
            <a:r>
              <a:t>Strong fundamentals support positive long-term outlook</a:t>
            </a:r>
          </a:p>
          <a:p>
            <a:pPr lvl="1"/>
            <a:r>
              <a:t>Valuation compelling relative to growth prospects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Growth Scenarios Analysis</a:t>
            </a:r>
          </a:p>
        </p:txBody>
      </p:sp>
      <p:graphicFrame>
        <p:nvGraphicFramePr>
          <p:cNvPr id="3" name="Table 2"/>
          <p:cNvGraphicFramePr>
            <a:graphicFrameLocks noGrp="1"/>
          </p:cNvGraphicFramePr>
          <p:nvPr/>
        </p:nvGraphicFramePr>
        <p:xfrm>
          <a:off x="1371600" y="1828800"/>
          <a:ext cx="9153144" cy="3200400"/>
        </p:xfrm>
        <a:graphic>
          <a:graphicData uri="http://schemas.openxmlformats.org/drawingml/2006/table">
            <a:tbl>
              <a:tblPr firstRow="1" bandRow="1">
                <a:tableStyleId>{5C22544A-7EE6-4342-B048-85BDC9FD1C3A}</a:tableStyleId>
              </a:tblPr>
              <a:tblGrid>
                <a:gridCol w="3200400"/>
                <a:gridCol w="1984248"/>
                <a:gridCol w="1984248"/>
                <a:gridCol w="1984248"/>
              </a:tblGrid>
              <a:tr h="533400">
                <a:tc>
                  <a:txBody>
                    <a:bodyPr/>
                    <a:lstStyle/>
                    <a:p>
                      <a:r>
                        <a:t>Metric</a:t>
                      </a:r>
                    </a:p>
                  </a:txBody>
                  <a:tcPr/>
                </a:tc>
                <a:tc>
                  <a:txBody>
                    <a:bodyPr/>
                    <a:lstStyle/>
                    <a:p>
                      <a:r>
                        <a:t>Bear Case</a:t>
                      </a:r>
                    </a:p>
                  </a:txBody>
                  <a:tcPr/>
                </a:tc>
                <a:tc>
                  <a:txBody>
                    <a:bodyPr/>
                    <a:lstStyle/>
                    <a:p>
                      <a:r>
                        <a:t>Base Case</a:t>
                      </a:r>
                    </a:p>
                  </a:txBody>
                  <a:tcPr/>
                </a:tc>
                <a:tc>
                  <a:txBody>
                    <a:bodyPr/>
                    <a:lstStyle/>
                    <a:p>
                      <a:r>
                        <a:t>Bull Case</a:t>
                      </a:r>
                    </a:p>
                  </a:txBody>
                  <a:tcPr/>
                </a:tc>
              </a:tr>
              <a:tr h="533400">
                <a:tc>
                  <a:txBody>
                    <a:bodyPr/>
                    <a:lstStyle/>
                    <a:p>
                      <a:r>
                        <a:t>Terminal Revenue ($M)</a:t>
                      </a:r>
                    </a:p>
                  </a:txBody>
                  <a:tcPr/>
                </a:tc>
                <a:tc>
                  <a:txBody>
                    <a:bodyPr/>
                    <a:lstStyle/>
                    <a:p>
                      <a:r>
                        <a:t>$210167</a:t>
                      </a:r>
                    </a:p>
                  </a:txBody>
                  <a:tcPr/>
                </a:tc>
                <a:tc>
                  <a:txBody>
                    <a:bodyPr/>
                    <a:lstStyle/>
                    <a:p>
                      <a:r>
                        <a:t>$327756</a:t>
                      </a:r>
                    </a:p>
                  </a:txBody>
                  <a:tcPr/>
                </a:tc>
                <a:tc>
                  <a:txBody>
                    <a:bodyPr/>
                    <a:lstStyle/>
                    <a:p>
                      <a:r>
                        <a:t>$414432</a:t>
                      </a:r>
                    </a:p>
                  </a:txBody>
                  <a:tcPr/>
                </a:tc>
              </a:tr>
              <a:tr h="533400">
                <a:tc>
                  <a:txBody>
                    <a:bodyPr/>
                    <a:lstStyle/>
                    <a:p>
                      <a:r>
                        <a:t>Terminal FCF ($M)</a:t>
                      </a:r>
                    </a:p>
                  </a:txBody>
                  <a:tcPr/>
                </a:tc>
                <a:tc>
                  <a:txBody>
                    <a:bodyPr/>
                    <a:lstStyle/>
                    <a:p>
                      <a:r>
                        <a:t>$12801</a:t>
                      </a:r>
                    </a:p>
                  </a:txBody>
                  <a:tcPr/>
                </a:tc>
                <a:tc>
                  <a:txBody>
                    <a:bodyPr/>
                    <a:lstStyle/>
                    <a:p>
                      <a:r>
                        <a:t>$196442</a:t>
                      </a:r>
                    </a:p>
                  </a:txBody>
                  <a:tcPr/>
                </a:tc>
                <a:tc>
                  <a:txBody>
                    <a:bodyPr/>
                    <a:lstStyle/>
                    <a:p>
                      <a:r>
                        <a:t>$49469</a:t>
                      </a:r>
                    </a:p>
                  </a:txBody>
                  <a:tcPr/>
                </a:tc>
              </a:tr>
              <a:tr h="533400">
                <a:tc>
                  <a:txBody>
                    <a:bodyPr/>
                    <a:lstStyle/>
                    <a:p>
                      <a:r>
                        <a:t>Bankruptcy Probability</a:t>
                      </a:r>
                    </a:p>
                  </a:txBody>
                  <a:tcPr/>
                </a:tc>
                <a:tc>
                  <a:txBody>
                    <a:bodyPr/>
                    <a:lstStyle/>
                    <a:p>
                      <a:r>
                        <a:t>5.00%</a:t>
                      </a:r>
                    </a:p>
                  </a:txBody>
                  <a:tcPr/>
                </a:tc>
                <a:tc>
                  <a:txBody>
                    <a:bodyPr/>
                    <a:lstStyle/>
                    <a:p>
                      <a:r>
                        <a:t>5.00%</a:t>
                      </a:r>
                    </a:p>
                  </a:txBody>
                  <a:tcPr/>
                </a:tc>
                <a:tc>
                  <a:txBody>
                    <a:bodyPr/>
                    <a:lstStyle/>
                    <a:p>
                      <a:r>
                        <a:t>5.00%</a:t>
                      </a:r>
                    </a:p>
                  </a:txBody>
                  <a:tcPr/>
                </a:tc>
              </a:tr>
              <a:tr h="533400">
                <a:tc>
                  <a:txBody>
                    <a:bodyPr/>
                    <a:lstStyle/>
                    <a:p>
                      <a:r>
                        <a:t>Altman Z-Score</a:t>
                      </a:r>
                    </a:p>
                  </a:txBody>
                  <a:tcPr/>
                </a:tc>
                <a:tc>
                  <a:txBody>
                    <a:bodyPr/>
                    <a:lstStyle/>
                    <a:p>
                      <a:r>
                        <a:t>0.00</a:t>
                      </a:r>
                    </a:p>
                  </a:txBody>
                  <a:tcPr/>
                </a:tc>
                <a:tc>
                  <a:txBody>
                    <a:bodyPr/>
                    <a:lstStyle/>
                    <a:p>
                      <a:r>
                        <a:t>0.00</a:t>
                      </a:r>
                    </a:p>
                  </a:txBody>
                  <a:tcPr/>
                </a:tc>
                <a:tc>
                  <a:txBody>
                    <a:bodyPr/>
                    <a:lstStyle/>
                    <a:p>
                      <a:r>
                        <a:t>0.00</a:t>
                      </a:r>
                    </a:p>
                  </a:txBody>
                  <a:tcPr/>
                </a:tc>
              </a:tr>
              <a:tr h="533400">
                <a:tc>
                  <a:txBody>
                    <a:bodyPr/>
                    <a:lstStyle/>
                    <a:p>
                      <a:r>
                        <a:t>Ohlson O-Score</a:t>
                      </a:r>
                    </a:p>
                  </a:txBody>
                  <a:tcPr/>
                </a:tc>
                <a:tc>
                  <a:txBody>
                    <a:bodyPr/>
                    <a:lstStyle/>
                    <a:p>
                      <a:r>
                        <a:t>0.000</a:t>
                      </a:r>
                    </a:p>
                  </a:txBody>
                  <a:tcPr/>
                </a:tc>
                <a:tc>
                  <a:txBody>
                    <a:bodyPr/>
                    <a:lstStyle/>
                    <a:p>
                      <a:r>
                        <a:t>0.000</a:t>
                      </a:r>
                    </a:p>
                  </a:txBody>
                  <a:tcPr/>
                </a:tc>
                <a:tc>
                  <a:txBody>
                    <a:bodyPr/>
                    <a:lstStyle/>
                    <a:p>
                      <a:r>
                        <a:t>0.000</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LBO Analysis - Sources &amp; Uses</a:t>
            </a:r>
          </a:p>
        </p:txBody>
      </p:sp>
      <p:graphicFrame>
        <p:nvGraphicFramePr>
          <p:cNvPr id="3" name="Table 2"/>
          <p:cNvGraphicFramePr>
            <a:graphicFrameLocks noGrp="1"/>
          </p:cNvGraphicFramePr>
          <p:nvPr/>
        </p:nvGraphicFramePr>
        <p:xfrm>
          <a:off x="1371600" y="1828800"/>
          <a:ext cx="9144000" cy="3657600"/>
        </p:xfrm>
        <a:graphic>
          <a:graphicData uri="http://schemas.openxmlformats.org/drawingml/2006/table">
            <a:tbl>
              <a:tblPr firstRow="1" bandRow="1">
                <a:tableStyleId>{5C22544A-7EE6-4342-B048-85BDC9FD1C3A}</a:tableStyleId>
              </a:tblPr>
              <a:tblGrid>
                <a:gridCol w="4572000"/>
                <a:gridCol w="2286000"/>
                <a:gridCol w="2286000"/>
              </a:tblGrid>
              <a:tr h="406400">
                <a:tc>
                  <a:txBody>
                    <a:bodyPr/>
                    <a:lstStyle/>
                    <a:p>
                      <a:r>
                        <a:t>Item</a:t>
                      </a:r>
                    </a:p>
                  </a:txBody>
                  <a:tcPr/>
                </a:tc>
                <a:tc>
                  <a:txBody>
                    <a:bodyPr/>
                    <a:lstStyle/>
                    <a:p>
                      <a:r>
                        <a:t>Sources ($M)</a:t>
                      </a:r>
                    </a:p>
                  </a:txBody>
                  <a:tcPr/>
                </a:tc>
                <a:tc>
                  <a:txBody>
                    <a:bodyPr/>
                    <a:lstStyle/>
                    <a:p>
                      <a:r>
                        <a:t>Uses ($M)</a:t>
                      </a:r>
                    </a:p>
                  </a:txBody>
                  <a:tcPr/>
                </a:tc>
              </a:tr>
              <a:tr h="406400">
                <a:tc>
                  <a:txBody>
                    <a:bodyPr/>
                    <a:lstStyle/>
                    <a:p>
                      <a:r>
                        <a:t>Sponsor Equity</a:t>
                      </a:r>
                    </a:p>
                  </a:txBody>
                  <a:tcPr/>
                </a:tc>
                <a:tc>
                  <a:txBody>
                    <a:bodyPr/>
                    <a:lstStyle/>
                    <a:p>
                      <a:r>
                        <a:t>$1603311</a:t>
                      </a:r>
                    </a:p>
                  </a:txBody>
                  <a:tcPr/>
                </a:tc>
                <a:tc>
                  <a:txBody>
                    <a:bodyPr/>
                    <a:lstStyle/>
                    <a:p/>
                  </a:txBody>
                  <a:tcPr/>
                </a:tc>
              </a:tr>
              <a:tr h="406400">
                <a:tc>
                  <a:txBody>
                    <a:bodyPr/>
                    <a:lstStyle/>
                    <a:p>
                      <a:r>
                        <a:t>Senior Debt</a:t>
                      </a:r>
                    </a:p>
                  </a:txBody>
                  <a:tcPr/>
                </a:tc>
                <a:tc>
                  <a:txBody>
                    <a:bodyPr/>
                    <a:lstStyle/>
                    <a:p>
                      <a:r>
                        <a:t>$2061400</a:t>
                      </a:r>
                    </a:p>
                  </a:txBody>
                  <a:tcPr/>
                </a:tc>
                <a:tc>
                  <a:txBody>
                    <a:bodyPr/>
                    <a:lstStyle/>
                    <a:p/>
                  </a:txBody>
                  <a:tcPr/>
                </a:tc>
              </a:tr>
              <a:tr h="406400">
                <a:tc>
                  <a:txBody>
                    <a:bodyPr/>
                    <a:lstStyle/>
                    <a:p>
                      <a:r>
                        <a:t>Subordinated Debt</a:t>
                      </a:r>
                    </a:p>
                  </a:txBody>
                  <a:tcPr/>
                </a:tc>
                <a:tc>
                  <a:txBody>
                    <a:bodyPr/>
                    <a:lstStyle/>
                    <a:p>
                      <a:r>
                        <a:t>$916178</a:t>
                      </a:r>
                    </a:p>
                  </a:txBody>
                  <a:tcPr/>
                </a:tc>
                <a:tc>
                  <a:txBody>
                    <a:bodyPr/>
                    <a:lstStyle/>
                    <a:p/>
                  </a:txBody>
                  <a:tcPr/>
                </a:tc>
              </a:tr>
              <a:tr h="406400">
                <a:tc>
                  <a:txBody>
                    <a:bodyPr/>
                    <a:lstStyle/>
                    <a:p>
                      <a:r>
                        <a:t>Purchase Enterprise Value</a:t>
                      </a:r>
                    </a:p>
                  </a:txBody>
                  <a:tcPr/>
                </a:tc>
                <a:tc>
                  <a:txBody>
                    <a:bodyPr/>
                    <a:lstStyle/>
                    <a:p/>
                  </a:txBody>
                  <a:tcPr/>
                </a:tc>
                <a:tc>
                  <a:txBody>
                    <a:bodyPr/>
                    <a:lstStyle/>
                    <a:p>
                      <a:r>
                        <a:t>$4580888</a:t>
                      </a:r>
                    </a:p>
                  </a:txBody>
                  <a:tcPr/>
                </a:tc>
              </a:tr>
              <a:tr h="406400">
                <a:tc>
                  <a:txBody>
                    <a:bodyPr/>
                    <a:lstStyle/>
                    <a:p>
                      <a:r>
                        <a:t>Transaction Fees</a:t>
                      </a:r>
                    </a:p>
                  </a:txBody>
                  <a:tcPr/>
                </a:tc>
                <a:tc>
                  <a:txBody>
                    <a:bodyPr/>
                    <a:lstStyle/>
                    <a:p/>
                  </a:txBody>
                  <a:tcPr/>
                </a:tc>
                <a:tc>
                  <a:txBody>
                    <a:bodyPr/>
                    <a:lstStyle/>
                    <a:p>
                      <a:r>
                        <a:t>$91618</a:t>
                      </a:r>
                    </a:p>
                  </a:txBody>
                  <a:tcPr/>
                </a:tc>
              </a:tr>
              <a:tr h="406400">
                <a:tc>
                  <a:txBody>
                    <a:bodyPr/>
                    <a:lstStyle/>
                    <a:p>
                      <a:r>
                        <a:t>Financing Fees</a:t>
                      </a:r>
                    </a:p>
                  </a:txBody>
                  <a:tcPr/>
                </a:tc>
                <a:tc>
                  <a:txBody>
                    <a:bodyPr/>
                    <a:lstStyle/>
                    <a:p/>
                  </a:txBody>
                  <a:tcPr/>
                </a:tc>
                <a:tc>
                  <a:txBody>
                    <a:bodyPr/>
                    <a:lstStyle/>
                    <a:p>
                      <a:r>
                        <a:t>$68713</a:t>
                      </a:r>
                    </a:p>
                  </a:txBody>
                  <a:tcPr/>
                </a:tc>
              </a:tr>
              <a:tr h="406400">
                <a:tc>
                  <a:txBody>
                    <a:bodyPr/>
                    <a:lstStyle/>
                    <a:p>
                      <a:r>
                        <a:t>Equity IRR</a:t>
                      </a:r>
                    </a:p>
                  </a:txBody>
                  <a:tcPr/>
                </a:tc>
                <a:tc>
                  <a:txBody>
                    <a:bodyPr/>
                    <a:lstStyle/>
                    <a:p>
                      <a:r>
                        <a:t>-50.6%</a:t>
                      </a:r>
                    </a:p>
                  </a:txBody>
                  <a:tcPr/>
                </a:tc>
                <a:tc>
                  <a:txBody>
                    <a:bodyPr/>
                    <a:lstStyle/>
                    <a:p/>
                  </a:txBody>
                  <a:tcPr/>
                </a:tc>
              </a:tr>
              <a:tr h="406400">
                <a:tc>
                  <a:txBody>
                    <a:bodyPr/>
                    <a:lstStyle/>
                    <a:p>
                      <a:r>
                        <a:t>MoIC</a:t>
                      </a:r>
                    </a:p>
                  </a:txBody>
                  <a:tcPr/>
                </a:tc>
                <a:tc>
                  <a:txBody>
                    <a:bodyPr/>
                    <a:lstStyle/>
                    <a:p>
                      <a:r>
                        <a:t>0.03x</a:t>
                      </a:r>
                    </a:p>
                  </a:txBody>
                  <a:tcPr/>
                </a:tc>
                <a:tc>
                  <a:txBody>
                    <a:bodyPr/>
                    <a:lstStyle/>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Merger Synergies Breakdown</a:t>
            </a:r>
          </a:p>
        </p:txBody>
      </p:sp>
      <p:graphicFrame>
        <p:nvGraphicFramePr>
          <p:cNvPr id="3" name="Table 2"/>
          <p:cNvGraphicFramePr>
            <a:graphicFrameLocks noGrp="1"/>
          </p:cNvGraphicFramePr>
          <p:nvPr/>
        </p:nvGraphicFramePr>
        <p:xfrm>
          <a:off x="1371600" y="1828800"/>
          <a:ext cx="9144000" cy="3657600"/>
        </p:xfrm>
        <a:graphic>
          <a:graphicData uri="http://schemas.openxmlformats.org/drawingml/2006/table">
            <a:tbl>
              <a:tblPr firstRow="1" bandRow="1">
                <a:tableStyleId>{5C22544A-7EE6-4342-B048-85BDC9FD1C3A}</a:tableStyleId>
              </a:tblPr>
              <a:tblGrid>
                <a:gridCol w="5486400"/>
                <a:gridCol w="3657600"/>
              </a:tblGrid>
              <a:tr h="332509">
                <a:tc>
                  <a:txBody>
                    <a:bodyPr/>
                    <a:lstStyle/>
                    <a:p>
                      <a:r>
                        <a:t>Synergy Category</a:t>
                      </a:r>
                    </a:p>
                  </a:txBody>
                  <a:tcPr/>
                </a:tc>
                <a:tc>
                  <a:txBody>
                    <a:bodyPr/>
                    <a:lstStyle/>
                    <a:p>
                      <a:r>
                        <a:t>Value ($M)</a:t>
                      </a:r>
                    </a:p>
                  </a:txBody>
                  <a:tcPr/>
                </a:tc>
              </a:tr>
              <a:tr h="332509">
                <a:tc>
                  <a:txBody>
                    <a:bodyPr/>
                    <a:lstStyle/>
                    <a:p>
                      <a:r>
                        <a:t>Revenue Synergies:</a:t>
                      </a:r>
                    </a:p>
                  </a:txBody>
                  <a:tcPr/>
                </a:tc>
                <a:tc>
                  <a:txBody>
                    <a:bodyPr/>
                    <a:lstStyle/>
                    <a:p>
                      <a:r>
                        <a:t>$15116.8</a:t>
                      </a:r>
                    </a:p>
                  </a:txBody>
                  <a:tcPr/>
                </a:tc>
              </a:tr>
              <a:tr h="332509">
                <a:tc>
                  <a:txBody>
                    <a:bodyPr/>
                    <a:lstStyle/>
                    <a:p>
                      <a:r>
                        <a:t>  • Cross-Selling Opportunities</a:t>
                      </a:r>
                    </a:p>
                  </a:txBody>
                  <a:tcPr/>
                </a:tc>
                <a:tc>
                  <a:txBody>
                    <a:bodyPr/>
                    <a:lstStyle/>
                    <a:p>
                      <a:r>
                        <a:t>$6046.7</a:t>
                      </a:r>
                    </a:p>
                  </a:txBody>
                  <a:tcPr/>
                </a:tc>
              </a:tr>
              <a:tr h="332509">
                <a:tc>
                  <a:txBody>
                    <a:bodyPr/>
                    <a:lstStyle/>
                    <a:p>
                      <a:r>
                        <a:t>  • Market Expansion</a:t>
                      </a:r>
                    </a:p>
                  </a:txBody>
                  <a:tcPr/>
                </a:tc>
                <a:tc>
                  <a:txBody>
                    <a:bodyPr/>
                    <a:lstStyle/>
                    <a:p>
                      <a:r>
                        <a:t>$5290.9</a:t>
                      </a:r>
                    </a:p>
                  </a:txBody>
                  <a:tcPr/>
                </a:tc>
              </a:tr>
              <a:tr h="332509">
                <a:tc>
                  <a:txBody>
                    <a:bodyPr/>
                    <a:lstStyle/>
                    <a:p>
                      <a:r>
                        <a:t>  • Product Bundling</a:t>
                      </a:r>
                    </a:p>
                  </a:txBody>
                  <a:tcPr/>
                </a:tc>
                <a:tc>
                  <a:txBody>
                    <a:bodyPr/>
                    <a:lstStyle/>
                    <a:p>
                      <a:r>
                        <a:t>$3779.2</a:t>
                      </a:r>
                    </a:p>
                  </a:txBody>
                  <a:tcPr/>
                </a:tc>
              </a:tr>
              <a:tr h="332509">
                <a:tc>
                  <a:txBody>
                    <a:bodyPr/>
                    <a:lstStyle/>
                    <a:p>
                      <a:r>
                        <a:t>Cost Synergies:</a:t>
                      </a:r>
                    </a:p>
                  </a:txBody>
                  <a:tcPr/>
                </a:tc>
                <a:tc>
                  <a:txBody>
                    <a:bodyPr/>
                    <a:lstStyle/>
                    <a:p>
                      <a:r>
                        <a:t>$35272.5</a:t>
                      </a:r>
                    </a:p>
                  </a:txBody>
                  <a:tcPr/>
                </a:tc>
              </a:tr>
              <a:tr h="332509">
                <a:tc>
                  <a:txBody>
                    <a:bodyPr/>
                    <a:lstStyle/>
                    <a:p>
                      <a:r>
                        <a:t>  • Headcount Reduction</a:t>
                      </a:r>
                    </a:p>
                  </a:txBody>
                  <a:tcPr/>
                </a:tc>
                <a:tc>
                  <a:txBody>
                    <a:bodyPr/>
                    <a:lstStyle/>
                    <a:p>
                      <a:r>
                        <a:t>$12345.4</a:t>
                      </a:r>
                    </a:p>
                  </a:txBody>
                  <a:tcPr/>
                </a:tc>
              </a:tr>
              <a:tr h="332509">
                <a:tc>
                  <a:txBody>
                    <a:bodyPr/>
                    <a:lstStyle/>
                    <a:p>
                      <a:r>
                        <a:t>  • Facility Consolidation</a:t>
                      </a:r>
                    </a:p>
                  </a:txBody>
                  <a:tcPr/>
                </a:tc>
                <a:tc>
                  <a:txBody>
                    <a:bodyPr/>
                    <a:lstStyle/>
                    <a:p>
                      <a:r>
                        <a:t>$7054.5</a:t>
                      </a:r>
                    </a:p>
                  </a:txBody>
                  <a:tcPr/>
                </a:tc>
              </a:tr>
              <a:tr h="332509">
                <a:tc>
                  <a:txBody>
                    <a:bodyPr/>
                    <a:lstStyle/>
                    <a:p>
                      <a:r>
                        <a:t>  • Procurement Savings</a:t>
                      </a:r>
                    </a:p>
                  </a:txBody>
                  <a:tcPr/>
                </a:tc>
                <a:tc>
                  <a:txBody>
                    <a:bodyPr/>
                    <a:lstStyle/>
                    <a:p>
                      <a:r>
                        <a:t>$8818.1</a:t>
                      </a:r>
                    </a:p>
                  </a:txBody>
                  <a:tcPr/>
                </a:tc>
              </a:tr>
              <a:tr h="332509">
                <a:tc>
                  <a:txBody>
                    <a:bodyPr/>
                    <a:lstStyle/>
                    <a:p>
                      <a:r>
                        <a:t>Total Gross Synergies</a:t>
                      </a:r>
                    </a:p>
                  </a:txBody>
                  <a:tcPr/>
                </a:tc>
                <a:tc>
                  <a:txBody>
                    <a:bodyPr/>
                    <a:lstStyle/>
                    <a:p>
                      <a:r>
                        <a:t>$50389.3</a:t>
                      </a:r>
                    </a:p>
                  </a:txBody>
                  <a:tcPr/>
                </a:tc>
              </a:tr>
              <a:tr h="332510">
                <a:tc>
                  <a:txBody>
                    <a:bodyPr/>
                    <a:lstStyle/>
                    <a:p>
                      <a:r>
                        <a:t>Total After-Tax Synergies</a:t>
                      </a:r>
                    </a:p>
                  </a:txBody>
                  <a:tcPr/>
                </a:tc>
                <a:tc>
                  <a:txBody>
                    <a:bodyPr/>
                    <a:lstStyle/>
                    <a:p>
                      <a:r>
                        <a:t>$39807.5</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Disclaimer</a:t>
            </a:r>
          </a:p>
        </p:txBody>
      </p:sp>
      <p:sp>
        <p:nvSpPr>
          <p:cNvPr id="3" name="TextBox 2"/>
          <p:cNvSpPr txBox="1"/>
          <p:nvPr/>
        </p:nvSpPr>
        <p:spPr>
          <a:xfrm>
            <a:off x="1371600" y="1828800"/>
            <a:ext cx="9144000" cy="3657600"/>
          </a:xfrm>
          <a:prstGeom prst="rect">
            <a:avLst/>
          </a:prstGeom>
          <a:noFill/>
        </p:spPr>
        <p:txBody>
          <a:bodyPr wrap="square">
            <a:spAutoFit/>
          </a:bodyPr>
          <a:lstStyle/>
          <a:p>
            <a:pPr>
              <a:defRPr sz="1000"/>
            </a:pPr>
            <a:r>
              <a:t>This presentation provides a summary analysis of NVIDIA Corporation (nvda) and is for informational purposes only. It should not be considered as investment advice or a recommendation to buy, sell, or hold securities. All valuations, projections, and forward-looking statements are subject to change based on market conditions, company performance, and other factors. Past performance is not indicative of future results. Investors should conduct their own due diligence and consult with qualified financial advisors before making any investment decisions.</a:t>
            </a:r>
            <a:br/>
            <a:br/>
            <a:r>
              <a:t>Data Source: Financial Modeling Prep (FMP) API - Real-time market data</a:t>
            </a:r>
            <a:br/>
            <a:r>
              <a:t>Analysis Date: November 08,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